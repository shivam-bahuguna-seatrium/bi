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457200"/>
            <a:ext cx="50800" cy="5943600"/>
          </a:xfrm>
          <a:prstGeom prst="rect">
            <a:avLst/>
          </a:prstGeom>
          <a:solidFill>
            <a:srgbClr val="00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704320" y="457200"/>
            <a:ext cx="50800" cy="5943600"/>
          </a:xfrm>
          <a:prstGeom prst="rect">
            <a:avLst/>
          </a:prstGeom>
          <a:solidFill>
            <a:srgbClr val="00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5E20"/>
                </a:solidFill>
                <a:latin typeface="Segoe UI Semibold"/>
              </a:defRPr>
            </a:pPr>
            <a:r>
              <a:t>Intelligent Knowledge Ecosystems:</a:t>
            </a:r>
            <a:br/>
            <a:r>
              <a:t>An Agentic AI Framework for</a:t>
            </a:r>
            <a:br/>
            <a:r>
              <a:t>Data-Driven Decision Intelligence</a:t>
            </a:r>
            <a:br/>
            <a:r>
              <a:t>in Educational Institutions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2926080"/>
            <a:ext cx="1920240" cy="3175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Autonomous content curation  ·  Predictive knowledge tracing  ·  Strategic decision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703320"/>
            <a:ext cx="4389120" cy="13716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0" y="3703320"/>
            <a:ext cx="63500" cy="13716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382219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  <a:latin typeface="Segoe UI"/>
              </a:defRPr>
            </a:pPr>
            <a:r>
              <a:t>Abhishek Danu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160520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Segoe UI"/>
              </a:defRPr>
            </a:pPr>
            <a:r>
              <a:t>Research Scholar</a:t>
            </a:r>
            <a:br/>
            <a:r>
              <a:t>Department of Business Management</a:t>
            </a:r>
            <a:br/>
            <a:r>
              <a:t>HNB Garhwal University</a:t>
            </a:r>
            <a:br/>
            <a:r>
              <a:t>Srinagar, Uttarakhand, India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03320"/>
            <a:ext cx="4389120" cy="13716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3703320"/>
            <a:ext cx="63500" cy="13716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82219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579B"/>
                </a:solidFill>
                <a:latin typeface="Segoe UI"/>
              </a:defRPr>
            </a:pPr>
            <a:r>
              <a:t>Shivam Bahuguna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60520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Segoe UI"/>
              </a:defRPr>
            </a:pPr>
            <a:r>
              <a:t>Student</a:t>
            </a:r>
            <a:br/>
            <a:r>
              <a:t>School of Computer Science &amp; Mathematics</a:t>
            </a:r>
            <a:br/>
            <a:r>
              <a:t>Liverpool John Moores University</a:t>
            </a:r>
            <a:br/>
            <a:r>
              <a:t>Liverpool, United Kingdom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6978"/>
                </a:solidFill>
                <a:latin typeface="Segoe UI"/>
              </a:defRPr>
            </a:pPr>
            <a:r>
              <a:t>Keywords:  Agentic AI  ·  Learning Analytics  ·  Knowledge Tracing  ·  Multi-Agent Architectures  ·  AI-Driven Decision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379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0B0B0"/>
                </a:solidFill>
                <a:latin typeface="Segoe U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20"/>
                </a:solidFill>
                <a:latin typeface="Segoe UI Semibold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645920" cy="381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709928"/>
            <a:ext cx="25400" cy="41148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1536192"/>
            <a:ext cx="347472" cy="347472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Background — Data explosion, passive analytics, decision 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810512"/>
            <a:ext cx="10058400" cy="635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15568" y="2258568"/>
            <a:ext cx="25400" cy="41148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0120" y="2084832"/>
            <a:ext cx="347472" cy="347472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57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Research Objectives — Self-optimizing institutions, decision intelligence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359152"/>
            <a:ext cx="10058400" cy="635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15568" y="2807207"/>
            <a:ext cx="25400" cy="41148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120" y="2633471"/>
            <a:ext cx="347472" cy="347472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60603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Data &amp; Knowledge Resources — EdNet · XES3G5M · Course-Skill Atlas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907791"/>
            <a:ext cx="10058400" cy="635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15568" y="3355847"/>
            <a:ext cx="25400" cy="41148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" y="3182111"/>
            <a:ext cx="347472" cy="347472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15467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Multi-Agent Architecture — OpenAI Agents SDK, tool calling, handoffs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456431"/>
            <a:ext cx="10058400" cy="635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15568" y="3904488"/>
            <a:ext cx="25400" cy="41148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60120" y="3730752"/>
            <a:ext cx="347472" cy="347472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703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RAG &amp; GraphRAG Pipeline — Embedding + KG traversal + knowledge tracing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4005072"/>
            <a:ext cx="10058400" cy="635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15568" y="4453128"/>
            <a:ext cx="25400" cy="41148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0120" y="4279392"/>
            <a:ext cx="347472" cy="347472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251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RAGAS Evaluation — Faithfulness, relevancy, groundedness, accuracy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4553712"/>
            <a:ext cx="10058400" cy="635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15568" y="5001768"/>
            <a:ext cx="25400" cy="41148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60120" y="4828032"/>
            <a:ext cx="347472" cy="347472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800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Decision Intelligence Benchmarks — Agentic vs. conventional systems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5102352"/>
            <a:ext cx="10058400" cy="635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15568" y="5550408"/>
            <a:ext cx="25400" cy="41148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60120" y="5376672"/>
            <a:ext cx="347472" cy="347472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349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Knowledge Graph Insight — Skill intelligence, institutional planning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63040" y="5650992"/>
            <a:ext cx="10058400" cy="6350"/>
          </a:xfrm>
          <a:prstGeom prst="rect">
            <a:avLst/>
          </a:prstGeom>
          <a:solidFill>
            <a:srgbClr val="E3E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60120" y="5925311"/>
            <a:ext cx="347472" cy="347472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89787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Conclusion &amp; Future Work — Contributions, limitations, 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338560" y="65379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0B0B0"/>
                </a:solidFill>
                <a:latin typeface="Segoe U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20"/>
                </a:solidFill>
                <a:latin typeface="Segoe UI Semibold"/>
              </a:defRPr>
            </a:pPr>
            <a:r>
              <a:t>Background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645920" cy="381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From descriptive analytics to autonomous, data-driven decision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809" y="1371600"/>
            <a:ext cx="7871791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F360C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00" b="1" dirty="0">
                <a:solidFill>
                  <a:srgbClr val="BF360C"/>
                </a:solidFill>
                <a:latin typeface="Segoe UI"/>
              </a:rPr>
              <a:t>• </a:t>
            </a:r>
            <a:r>
              <a:rPr sz="1100" dirty="0">
                <a:solidFill>
                  <a:srgbClr val="333333"/>
                </a:solidFill>
                <a:latin typeface="Segoe UI"/>
              </a:rPr>
              <a:t>Rapid </a:t>
            </a:r>
            <a:r>
              <a:rPr sz="1100" dirty="0" err="1">
                <a:solidFill>
                  <a:srgbClr val="333333"/>
                </a:solidFill>
                <a:latin typeface="Segoe UI"/>
              </a:rPr>
              <a:t>digitisation</a:t>
            </a:r>
            <a:r>
              <a:rPr sz="1100" dirty="0">
                <a:solidFill>
                  <a:srgbClr val="333333"/>
                </a:solidFill>
                <a:latin typeface="Segoe UI"/>
              </a:rPr>
              <a:t> of education has generated vast volumes of heterogeneous learner interaction data — yet institutions lack the autonomous reasoning infrastructure to act on it</a:t>
            </a:r>
          </a:p>
          <a:p>
            <a:pPr>
              <a:spcAft>
                <a:spcPts val="700"/>
              </a:spcAft>
            </a:pPr>
            <a:r>
              <a:rPr sz="1100" b="1" dirty="0">
                <a:solidFill>
                  <a:srgbClr val="BF360C"/>
                </a:solidFill>
                <a:latin typeface="Segoe UI"/>
              </a:rPr>
              <a:t>• </a:t>
            </a:r>
            <a:r>
              <a:rPr sz="1100" dirty="0">
                <a:solidFill>
                  <a:srgbClr val="333333"/>
                </a:solidFill>
                <a:latin typeface="Segoe UI"/>
              </a:rPr>
              <a:t>Existing learning management and analytics systems remain descriptive and passive: they report what happened, but cannot predict, prescribe, or orchestrate interventions</a:t>
            </a:r>
          </a:p>
          <a:p>
            <a:pPr>
              <a:spcAft>
                <a:spcPts val="700"/>
              </a:spcAft>
            </a:pPr>
            <a:r>
              <a:rPr sz="1100" b="1" dirty="0">
                <a:solidFill>
                  <a:srgbClr val="BF360C"/>
                </a:solidFill>
                <a:latin typeface="Segoe UI"/>
              </a:rPr>
              <a:t>• </a:t>
            </a:r>
            <a:r>
              <a:rPr sz="1100" dirty="0">
                <a:solidFill>
                  <a:srgbClr val="333333"/>
                </a:solidFill>
                <a:latin typeface="Segoe UI"/>
              </a:rPr>
              <a:t>No unified intelligence layer connects learner </a:t>
            </a:r>
            <a:r>
              <a:rPr sz="1100" dirty="0" err="1">
                <a:solidFill>
                  <a:srgbClr val="333333"/>
                </a:solidFill>
                <a:latin typeface="Segoe UI"/>
              </a:rPr>
              <a:t>behaviour</a:t>
            </a:r>
            <a:r>
              <a:rPr sz="1100" dirty="0">
                <a:solidFill>
                  <a:srgbClr val="333333"/>
                </a:solidFill>
                <a:latin typeface="Segoe UI"/>
              </a:rPr>
              <a:t> data, curriculum metadata, and workforce skill signals into a coherent decision substrate</a:t>
            </a:r>
          </a:p>
          <a:p>
            <a:pPr>
              <a:spcAft>
                <a:spcPts val="700"/>
              </a:spcAft>
            </a:pPr>
            <a:r>
              <a:rPr sz="1100" b="1" dirty="0">
                <a:solidFill>
                  <a:srgbClr val="BF360C"/>
                </a:solidFill>
                <a:latin typeface="Segoe UI"/>
              </a:rPr>
              <a:t>• </a:t>
            </a:r>
            <a:r>
              <a:rPr sz="1100" dirty="0">
                <a:solidFill>
                  <a:srgbClr val="333333"/>
                </a:solidFill>
                <a:latin typeface="Segoe UI"/>
              </a:rPr>
              <a:t>Institutional decision-making — curriculum planning, resource allocation, risk mitigation — still depends on manual synthesis of disconnected 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Segoe UI"/>
              </a:defRPr>
            </a:pPr>
            <a:r>
              <a:t>The Paradigm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1B5E20"/>
                </a:solidFill>
                <a:latin typeface="Segoe UI"/>
              </a:rPr>
              <a:t>• </a:t>
            </a:r>
            <a:r>
              <a:rPr sz="1100">
                <a:solidFill>
                  <a:srgbClr val="333333"/>
                </a:solidFill>
                <a:latin typeface="Segoe UI"/>
              </a:rPr>
              <a:t>Agentic AI enables autonomous, multi-step reasoning over educational data — agents perceive, decide, and intervene without constant human prompting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1B5E20"/>
                </a:solidFill>
                <a:latin typeface="Segoe UI"/>
              </a:rPr>
              <a:t>• </a:t>
            </a:r>
            <a:r>
              <a:rPr sz="1100">
                <a:solidFill>
                  <a:srgbClr val="333333"/>
                </a:solidFill>
                <a:latin typeface="Segoe UI"/>
              </a:rPr>
              <a:t>Knowledge tracing + sequential analytics can dynamically model learner mastery trajectories, enabling proactive rather than reactive intervention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1B5E20"/>
                </a:solidFill>
                <a:latin typeface="Segoe UI"/>
              </a:rPr>
              <a:t>• </a:t>
            </a:r>
            <a:r>
              <a:rPr sz="1100">
                <a:solidFill>
                  <a:srgbClr val="333333"/>
                </a:solidFill>
                <a:latin typeface="Segoe UI"/>
              </a:rPr>
              <a:t>GraphRAG grounds LLM synthesis in verifiable knowledge graph paths — producing transparent, explainable, auditable decision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463040"/>
            <a:ext cx="3200400" cy="105156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03920" y="1463040"/>
            <a:ext cx="54864" cy="10515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53619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5E20"/>
                </a:solidFill>
                <a:latin typeface="Segoe UI"/>
              </a:defRPr>
            </a:pPr>
            <a:r>
              <a:t>131M+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Learner</a:t>
            </a:r>
            <a:br/>
            <a:r>
              <a:t>Interactions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697480"/>
            <a:ext cx="3200400" cy="105156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00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03920" y="2697480"/>
            <a:ext cx="54864" cy="1051560"/>
          </a:xfrm>
          <a:prstGeom prst="rect">
            <a:avLst/>
          </a:prstGeom>
          <a:solidFill>
            <a:srgbClr val="00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277063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978"/>
                </a:solidFill>
                <a:latin typeface="Segoe UI"/>
              </a:defRPr>
            </a:pPr>
            <a:r>
              <a:t>140M+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246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Data Points</a:t>
            </a:r>
            <a:br/>
            <a:r>
              <a:t>Across 3 Datasets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3931920"/>
            <a:ext cx="3200400" cy="105156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03920" y="3931920"/>
            <a:ext cx="54864" cy="105156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0" y="40050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1579B"/>
                </a:solidFill>
                <a:latin typeface="Segoe UI"/>
              </a:defRPr>
            </a:pPr>
            <a:r>
              <a:t>3,000+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480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Institutions</a:t>
            </a:r>
            <a:br/>
            <a:r>
              <a:t>Mapped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5166360"/>
            <a:ext cx="3200400" cy="105156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03920" y="5166360"/>
            <a:ext cx="54864" cy="10515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0" y="52395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148C"/>
                </a:solidFill>
                <a:latin typeface="Segoe UI"/>
              </a:defRPr>
            </a:pPr>
            <a:r>
              <a:t>950+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715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Segoe UI"/>
              </a:defRPr>
            </a:pPr>
            <a:r>
              <a:t>Workforce</a:t>
            </a:r>
            <a:br/>
            <a:r>
              <a:t>Skills (O*NET)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537960"/>
            <a:ext cx="11247120" cy="18288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Research Gap: No framework unifies agentic orchestration, knowledge tracing, GraphRAG and explainable decision intelligence for educational institutions.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338560" y="65379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0B0B0"/>
                </a:solidFill>
                <a:latin typeface="Segoe U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20"/>
                </a:solidFill>
                <a:latin typeface="Segoe UI Semibold"/>
              </a:defRPr>
            </a:pPr>
            <a:r>
              <a:t>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645920" cy="381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Transforming institutions into intelligent, self-optimising decision environments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6928" y="1618488"/>
            <a:ext cx="365760" cy="36576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Segoe UI"/>
              </a:defRPr>
            </a:pPr>
            <a:r>
              <a:t>Self-Optimising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574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Transform institutions into intelligent environments capable of autonomous content curation, learning optimisation and strategic decision intelligence.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08760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61688" y="1618488"/>
            <a:ext cx="365760" cy="365760"/>
          </a:xfrm>
          <a:prstGeom prst="ellipse">
            <a:avLst/>
          </a:prstGeom>
          <a:solidFill>
            <a:srgbClr val="00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645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978"/>
                </a:solidFill>
                <a:latin typeface="Segoe UI"/>
              </a:defRPr>
            </a:pPr>
            <a:r>
              <a:t>Dynamic Behaviour Modelling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0574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Model learner behaviour, knowledge evolution and skill acquisition trajectories using predictive knowledge tracing and sequential analytics.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56448" y="1618488"/>
            <a:ext cx="365760" cy="365760"/>
          </a:xfrm>
          <a:prstGeom prst="ellipse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645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360C"/>
                </a:solidFill>
                <a:latin typeface="Segoe UI"/>
              </a:defRPr>
            </a:pPr>
            <a:r>
              <a:t>Multi-Agent 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0574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Deploy specialised agents for learner modelling, content intelligence, collaboration identification and decision support via OpenAI Agents SDK.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77639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66928" y="4087367"/>
            <a:ext cx="365760" cy="365760"/>
          </a:xfrm>
          <a:prstGeom prst="ellipse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1479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148C"/>
                </a:solidFill>
                <a:latin typeface="Segoe UI"/>
              </a:defRPr>
            </a:pPr>
            <a:r>
              <a:t>Hierarchical Knowledge Graphs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526279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Construct institutional skill intelligence models and learner KGs from Course-Skill Atlas, O*NET and XES3G5M knowledge component routes.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977639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361688" y="4087367"/>
            <a:ext cx="365760" cy="365760"/>
          </a:xfrm>
          <a:prstGeom prst="ellipse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11479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579B"/>
                </a:solidFill>
                <a:latin typeface="Segoe UI"/>
              </a:defRPr>
            </a:pPr>
            <a:r>
              <a:t>Explainable Decision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526279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Deliver proactive, auditable decision intelligence anchored to KG paths — human-in-the-loop educators retain override authority.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977639"/>
            <a:ext cx="36118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156448" y="4087367"/>
            <a:ext cx="365760" cy="36576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11479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  <a:latin typeface="Segoe UI"/>
              </a:defRPr>
            </a:pPr>
            <a:r>
              <a:t>Comparative Benchmarking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4526279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Demonstrate significant gains over conventional analytics in knowledge prediction, content relevance and institutional decision efficiency.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338560" y="65379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0B0B0"/>
                </a:solidFill>
                <a:latin typeface="Segoe U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20"/>
                </a:solidFill>
                <a:latin typeface="Segoe UI Semibold"/>
              </a:defRPr>
            </a:pPr>
            <a:r>
              <a:t>Methodology: Data &amp; Knowledge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645920" cy="381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Three large-scale educational datasets — scale, heterogeneity, and complementarity</a:t>
            </a:r>
          </a:p>
        </p:txBody>
      </p:sp>
      <p:pic>
        <p:nvPicPr>
          <p:cNvPr id="6" name="Picture 5" descr="dataset_bub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11430000" cy="2560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4160520"/>
            <a:ext cx="1124712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1788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1788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Interactions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417880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Learners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1788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788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Primary 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07992"/>
            <a:ext cx="11247120" cy="475488"/>
          </a:xfrm>
          <a:prstGeom prst="rect">
            <a:avLst/>
          </a:prstGeom>
          <a:solidFill>
            <a:srgbClr val="F0F2F5"/>
          </a:solidFill>
          <a:ln w="12700">
            <a:solidFill>
              <a:srgbClr val="E3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55371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5E20"/>
                </a:solidFill>
                <a:latin typeface="Segoe UI"/>
              </a:defRPr>
            </a:pPr>
            <a:r>
              <a:t>EdNet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55371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131 Million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55371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784K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55371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13,169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537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Sequential learner behaviour modelling, engagement 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10912"/>
            <a:ext cx="11247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50566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5E20"/>
                </a:solidFill>
                <a:latin typeface="Segoe UI"/>
              </a:defRPr>
            </a:pPr>
            <a:r>
              <a:t>XES3G5M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05663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5.5 Million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05663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18K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05663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865 KCs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0566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Knowledge tracing, mastery prediction, concept graphs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13832"/>
            <a:ext cx="11247120" cy="475488"/>
          </a:xfrm>
          <a:prstGeom prst="rect">
            <a:avLst/>
          </a:prstGeom>
          <a:solidFill>
            <a:srgbClr val="F0F2F5"/>
          </a:solidFill>
          <a:ln w="12700">
            <a:solidFill>
              <a:srgbClr val="E3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5595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5E20"/>
                </a:solidFill>
                <a:latin typeface="Segoe UI"/>
              </a:defRPr>
            </a:pPr>
            <a:r>
              <a:t>Course-Skill Atlas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55955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3M+ syllabi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555955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~3K inst.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55955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950+ skills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5595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Segoe UI"/>
              </a:defRPr>
            </a:pPr>
            <a:r>
              <a:t>Institutional KG, O*NET skill mapping, curriculum planning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8076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0B0B0"/>
                </a:solidFill>
                <a:latin typeface="Segoe UI"/>
              </a:defRPr>
            </a:pPr>
            <a:r>
              <a:t>Note: Representative samples used for this prototype due to compute constraints. Full-scale deployment requires institutional HPC infrastructure.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338560" y="65379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0B0B0"/>
                </a:solidFill>
                <a:latin typeface="Segoe U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20"/>
                </a:solidFill>
                <a:latin typeface="Segoe UI Semibold"/>
              </a:defRPr>
            </a:pPr>
            <a:r>
              <a:t>Methodology: Multi-Agent Decision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645920" cy="381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OpenAI Agents SDK  ·  Function Tool Calling  ·  Agent Handoffs  ·  Audit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011680" cy="4754880"/>
          </a:xfrm>
          <a:prstGeom prst="rect">
            <a:avLst/>
          </a:prstGeom>
          <a:solidFill>
            <a:srgbClr val="F0F2F5"/>
          </a:solidFill>
          <a:ln w="12700">
            <a:solidFill>
              <a:srgbClr val="00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6978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65960"/>
            <a:ext cx="1737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978"/>
                </a:solidFill>
                <a:latin typeface="Segoe UI"/>
              </a:defRPr>
            </a:pPr>
            <a:r>
              <a:t>EdNet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Segoe UI"/>
              </a:defRPr>
            </a:pPr>
            <a:r>
              <a:t>131M interactions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880360"/>
            <a:ext cx="1737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978"/>
                </a:solidFill>
                <a:latin typeface="Segoe UI"/>
              </a:defRPr>
            </a:pPr>
            <a:r>
              <a:t>XES3G5M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278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Segoe UI"/>
              </a:defRPr>
            </a:pPr>
            <a:r>
              <a:t>5.5M interactions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794760"/>
            <a:ext cx="1737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978"/>
                </a:solidFill>
                <a:latin typeface="Segoe UI"/>
              </a:defRPr>
            </a:pPr>
            <a:r>
              <a:t>CSA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422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Segoe UI"/>
              </a:defRPr>
            </a:pPr>
            <a:r>
              <a:t>3M+ syllabi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69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508760"/>
            <a:ext cx="4114800" cy="4754880"/>
          </a:xfrm>
          <a:prstGeom prst="rect">
            <a:avLst/>
          </a:prstGeom>
          <a:solidFill>
            <a:srgbClr val="F0F2F5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0" y="15544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B5E20"/>
                </a:solidFill>
                <a:latin typeface="Segoe UI"/>
              </a:defRPr>
            </a:pPr>
            <a:r>
              <a:t>INTELLIGENCE LAYER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1965960"/>
            <a:ext cx="3840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0" y="1965960"/>
            <a:ext cx="45720" cy="804672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80360" y="20391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579B"/>
                </a:solidFill>
                <a:latin typeface="Segoe UI"/>
              </a:defRPr>
            </a:pPr>
            <a:r>
              <a:t>FAISS Vector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3317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Segoe UI"/>
              </a:defRPr>
            </a:pPr>
            <a:r>
              <a:t>Semantic embedding index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2953512"/>
            <a:ext cx="3840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0" y="2953512"/>
            <a:ext cx="45720" cy="80467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80360" y="302666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148C"/>
                </a:solidFill>
                <a:latin typeface="Segoe UI"/>
              </a:defRPr>
            </a:pPr>
            <a:r>
              <a:t>Knowledge 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3192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Segoe UI"/>
              </a:defRPr>
            </a:pPr>
            <a:r>
              <a:t>NetworkX — hierarchical KG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3941064"/>
            <a:ext cx="3840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3200" y="3941064"/>
            <a:ext cx="45720" cy="804672"/>
          </a:xfrm>
          <a:prstGeom prst="rect">
            <a:avLst/>
          </a:prstGeom>
          <a:solidFill>
            <a:srgbClr val="00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80360" y="40142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978"/>
                </a:solidFill>
                <a:latin typeface="Segoe UI"/>
              </a:defRPr>
            </a:pPr>
            <a:r>
              <a:t>RAG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3068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Segoe UI"/>
              </a:defRPr>
            </a:pPr>
            <a:r>
              <a:t>Text-embedding-3-small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4928616"/>
            <a:ext cx="3840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0" y="4928616"/>
            <a:ext cx="45720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80360" y="50017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F360C"/>
                </a:solidFill>
                <a:latin typeface="Segoe UI"/>
              </a:defRPr>
            </a:pPr>
            <a:r>
              <a:t>GraphRAG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2943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57575"/>
                </a:solidFill>
                <a:latin typeface="Segoe UI"/>
              </a:defRPr>
            </a:pPr>
            <a:r>
              <a:t>Graph + vector fusion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200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5E20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1508760"/>
            <a:ext cx="4754880" cy="4754880"/>
          </a:xfrm>
          <a:prstGeom prst="rect">
            <a:avLst/>
          </a:prstGeom>
          <a:solidFill>
            <a:srgbClr val="F0F2F5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23760" y="1554480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F360C"/>
                </a:solidFill>
                <a:latin typeface="Segoe UI"/>
              </a:defRPr>
            </a:pPr>
            <a:r>
              <a:rPr dirty="0"/>
              <a:t>AGENT LAYER (Agents SDK)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1920240"/>
            <a:ext cx="2926080" cy="59436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Orchestrator</a:t>
            </a:r>
          </a:p>
          <a:p>
            <a:pPr algn="ctr"/>
            <a:r>
              <a:rPr sz="700" b="0">
                <a:solidFill>
                  <a:srgbClr val="C8E6C9"/>
                </a:solidFill>
                <a:latin typeface="Segoe UI"/>
              </a:rPr>
              <a:t>Routes · Handoffs · Audit Log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9480" y="2788920"/>
            <a:ext cx="2148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Rectangle 40"/>
          <p:cNvSpPr/>
          <p:nvPr/>
        </p:nvSpPr>
        <p:spPr>
          <a:xfrm>
            <a:off x="7269480" y="2788920"/>
            <a:ext cx="2148840" cy="292608"/>
          </a:xfrm>
          <a:prstGeom prst="rect">
            <a:avLst/>
          </a:prstGeom>
          <a:solidFill>
            <a:srgbClr val="00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89520" y="3368448"/>
            <a:ext cx="2057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>
                <a:highlight>
                  <a:srgbClr val="008080"/>
                </a:highlight>
              </a:rPr>
              <a:t>Learner</a:t>
            </a:r>
            <a:r>
              <a:rPr lang="en-US" dirty="0">
                <a:highlight>
                  <a:srgbClr val="008080"/>
                </a:highlight>
              </a:rPr>
              <a:t> </a:t>
            </a:r>
            <a:r>
              <a:rPr dirty="0">
                <a:highlight>
                  <a:srgbClr val="008080"/>
                </a:highlight>
              </a:rPr>
              <a:t>Modelling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0" y="2788920"/>
            <a:ext cx="2148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601200" y="2788920"/>
            <a:ext cx="2148840" cy="292608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44100" y="3355450"/>
            <a:ext cx="2057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>
                <a:highlight>
                  <a:srgbClr val="0000FF"/>
                </a:highlight>
              </a:rPr>
              <a:t>Content</a:t>
            </a:r>
            <a:r>
              <a:rPr lang="en-US" dirty="0">
                <a:highlight>
                  <a:srgbClr val="0000FF"/>
                </a:highlight>
              </a:rPr>
              <a:t> </a:t>
            </a:r>
            <a:r>
              <a:rPr dirty="0">
                <a:highlight>
                  <a:srgbClr val="0000FF"/>
                </a:highlight>
              </a:rPr>
              <a:t>Intelligence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69480" y="4297679"/>
            <a:ext cx="2148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269480" y="4297679"/>
            <a:ext cx="2148840" cy="2926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35849" y="4398264"/>
            <a:ext cx="205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Learning Path</a:t>
            </a:r>
            <a:br>
              <a:rPr dirty="0"/>
            </a:br>
            <a:r>
              <a:rPr dirty="0" err="1"/>
              <a:t>Optimisation</a:t>
            </a:r>
            <a:endParaRPr dirty="0"/>
          </a:p>
        </p:txBody>
      </p:sp>
      <p:sp>
        <p:nvSpPr>
          <p:cNvPr id="49" name="Rounded Rectangle 48"/>
          <p:cNvSpPr/>
          <p:nvPr/>
        </p:nvSpPr>
        <p:spPr>
          <a:xfrm>
            <a:off x="9601200" y="4297679"/>
            <a:ext cx="21488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601200" y="4297679"/>
            <a:ext cx="2148840" cy="29260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46920" y="4315967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Decision</a:t>
            </a:r>
            <a:br/>
            <a:r>
              <a:t>Support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42048" y="5943600"/>
            <a:ext cx="4526280" cy="2743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Human-in-the-Loop Governance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1338560" y="65379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0B0B0"/>
                </a:solidFill>
                <a:latin typeface="Segoe U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20"/>
                </a:solidFill>
                <a:latin typeface="Segoe UI Semibold"/>
              </a:defRPr>
            </a:pPr>
            <a:r>
              <a:t>Methodology: RAG &amp; GraphRAG for Decision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645920" cy="381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Evidence-grounded synthesis — combining semantic retrieval with knowledge graph reasoning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55778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384048"/>
          </a:xfrm>
          <a:prstGeom prst="rect">
            <a:avLst/>
          </a:prstGeom>
          <a:solidFill>
            <a:srgbClr val="00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RAG Pipeline — Semantic Vector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5916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 dirty="0">
                <a:solidFill>
                  <a:srgbClr val="006978"/>
                </a:solidFill>
                <a:latin typeface="Segoe UI"/>
              </a:rPr>
              <a:t>▹ </a:t>
            </a:r>
            <a:r>
              <a:rPr sz="1000" dirty="0">
                <a:solidFill>
                  <a:srgbClr val="333333"/>
                </a:solidFill>
                <a:latin typeface="Segoe UI"/>
              </a:rPr>
              <a:t>1.  Source documents from </a:t>
            </a:r>
            <a:r>
              <a:rPr sz="1000" dirty="0" err="1">
                <a:solidFill>
                  <a:srgbClr val="333333"/>
                </a:solidFill>
                <a:latin typeface="Segoe UI"/>
              </a:rPr>
              <a:t>EdNet</a:t>
            </a:r>
            <a:r>
              <a:rPr sz="1000" dirty="0">
                <a:solidFill>
                  <a:srgbClr val="333333"/>
                </a:solidFill>
                <a:latin typeface="Segoe UI"/>
              </a:rPr>
              <a:t>, XES3G5M and Course-Skill Atlas are chunked into semantically coherent passages</a:t>
            </a:r>
          </a:p>
          <a:p>
            <a:pPr>
              <a:spcAft>
                <a:spcPts val="800"/>
              </a:spcAft>
            </a:pPr>
            <a:r>
              <a:rPr sz="1000" b="1" dirty="0">
                <a:solidFill>
                  <a:srgbClr val="006978"/>
                </a:solidFill>
                <a:latin typeface="Segoe UI"/>
              </a:rPr>
              <a:t>▹ </a:t>
            </a:r>
            <a:r>
              <a:rPr sz="1000" dirty="0">
                <a:solidFill>
                  <a:srgbClr val="333333"/>
                </a:solidFill>
                <a:latin typeface="Segoe UI"/>
              </a:rPr>
              <a:t>2.  Each chunk is embedded using OpenAI text-embedding-3-small (1536-dim) and stored in a FAISS inner-product index</a:t>
            </a:r>
          </a:p>
          <a:p>
            <a:pPr>
              <a:spcAft>
                <a:spcPts val="800"/>
              </a:spcAft>
            </a:pPr>
            <a:r>
              <a:rPr sz="1000" b="1" dirty="0">
                <a:solidFill>
                  <a:srgbClr val="006978"/>
                </a:solidFill>
                <a:latin typeface="Segoe UI"/>
              </a:rPr>
              <a:t>▹ </a:t>
            </a:r>
            <a:r>
              <a:rPr sz="1000" dirty="0">
                <a:solidFill>
                  <a:srgbClr val="333333"/>
                </a:solidFill>
                <a:latin typeface="Segoe UI"/>
              </a:rPr>
              <a:t>3.  At query time, the agent's question is embedded and matched against the index for sub-second top-k retrieval</a:t>
            </a:r>
          </a:p>
          <a:p>
            <a:pPr>
              <a:spcAft>
                <a:spcPts val="800"/>
              </a:spcAft>
            </a:pPr>
            <a:r>
              <a:rPr sz="1000" b="1" dirty="0">
                <a:solidFill>
                  <a:srgbClr val="006978"/>
                </a:solidFill>
                <a:latin typeface="Segoe UI"/>
              </a:rPr>
              <a:t>▹ </a:t>
            </a:r>
            <a:r>
              <a:rPr sz="1000" dirty="0">
                <a:solidFill>
                  <a:srgbClr val="333333"/>
                </a:solidFill>
                <a:latin typeface="Segoe UI"/>
              </a:rPr>
              <a:t>4.  Retrieved passages are injected as structured context into the LLM prompt for grounded, cited synthesis</a:t>
            </a:r>
          </a:p>
          <a:p>
            <a:pPr>
              <a:spcAft>
                <a:spcPts val="800"/>
              </a:spcAft>
            </a:pPr>
            <a:r>
              <a:rPr sz="1000" b="1" dirty="0">
                <a:solidFill>
                  <a:srgbClr val="006978"/>
                </a:solidFill>
                <a:latin typeface="Segoe UI"/>
              </a:rPr>
              <a:t>▹ </a:t>
            </a:r>
            <a:r>
              <a:rPr sz="1000" dirty="0">
                <a:solidFill>
                  <a:srgbClr val="333333"/>
                </a:solidFill>
                <a:latin typeface="Segoe UI"/>
              </a:rPr>
              <a:t>5.  Knowledge tracing sequences (XES3G5M) are encoded as temporal embeddings — enabling mastery-aware retrieval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5778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577840" cy="38404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444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GraphRAG — Knowledge Graph–Grounded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5560" y="2616774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 dirty="0">
                <a:solidFill>
                  <a:srgbClr val="4A148C"/>
                </a:solidFill>
                <a:latin typeface="Segoe UI"/>
              </a:rPr>
              <a:t>▹ </a:t>
            </a:r>
            <a:r>
              <a:rPr sz="1000" dirty="0">
                <a:solidFill>
                  <a:srgbClr val="333333"/>
                </a:solidFill>
                <a:latin typeface="Segoe UI"/>
              </a:rPr>
              <a:t>1.  Institutional Knowledge Graph built from Course-Skill Atlas maps courses → O*NET skills → KCs with weighted edges</a:t>
            </a:r>
          </a:p>
          <a:p>
            <a:pPr>
              <a:spcAft>
                <a:spcPts val="800"/>
              </a:spcAft>
            </a:pPr>
            <a:r>
              <a:rPr sz="1000" b="1" dirty="0">
                <a:solidFill>
                  <a:srgbClr val="4A148C"/>
                </a:solidFill>
                <a:latin typeface="Segoe UI"/>
              </a:rPr>
              <a:t>▹ </a:t>
            </a:r>
            <a:r>
              <a:rPr sz="1000" dirty="0">
                <a:solidFill>
                  <a:srgbClr val="333333"/>
                </a:solidFill>
                <a:latin typeface="Segoe UI"/>
              </a:rPr>
              <a:t>2.  XES3G5M KC route hierarchies are encoded as graph nodes, capturing prerequisite and co-occurrence relationships</a:t>
            </a:r>
          </a:p>
          <a:p>
            <a:pPr>
              <a:spcAft>
                <a:spcPts val="800"/>
              </a:spcAft>
            </a:pPr>
            <a:r>
              <a:rPr sz="1000" b="1" dirty="0">
                <a:solidFill>
                  <a:srgbClr val="4A148C"/>
                </a:solidFill>
                <a:latin typeface="Segoe UI"/>
              </a:rPr>
              <a:t>▹ </a:t>
            </a:r>
            <a:r>
              <a:rPr sz="1000" dirty="0">
                <a:solidFill>
                  <a:srgbClr val="333333"/>
                </a:solidFill>
                <a:latin typeface="Segoe UI"/>
              </a:rPr>
              <a:t>3.  When an agent retrieves documents via RAG, extracted entities trigger BFS/DFS subgraph traversal in the KG</a:t>
            </a:r>
          </a:p>
          <a:p>
            <a:pPr>
              <a:spcAft>
                <a:spcPts val="800"/>
              </a:spcAft>
            </a:pPr>
            <a:r>
              <a:rPr sz="1000" b="1" dirty="0">
                <a:solidFill>
                  <a:srgbClr val="4A148C"/>
                </a:solidFill>
                <a:latin typeface="Segoe UI"/>
              </a:rPr>
              <a:t>▹ </a:t>
            </a:r>
            <a:r>
              <a:rPr sz="1000" dirty="0">
                <a:solidFill>
                  <a:srgbClr val="333333"/>
                </a:solidFill>
                <a:latin typeface="Segoe UI"/>
              </a:rPr>
              <a:t>4.  Graph paths (e.g. Statistics → ML → Deep Learning) provide structured reasoning context that the LLM cannot hallucinate</a:t>
            </a:r>
          </a:p>
          <a:p>
            <a:pPr>
              <a:spcAft>
                <a:spcPts val="800"/>
              </a:spcAft>
            </a:pPr>
            <a:r>
              <a:rPr sz="1000" b="1" dirty="0">
                <a:solidFill>
                  <a:srgbClr val="4A148C"/>
                </a:solidFill>
                <a:latin typeface="Segoe UI"/>
              </a:rPr>
              <a:t>▹ </a:t>
            </a:r>
            <a:r>
              <a:rPr sz="1000" dirty="0">
                <a:solidFill>
                  <a:srgbClr val="333333"/>
                </a:solidFill>
                <a:latin typeface="Segoe UI"/>
              </a:rPr>
              <a:t>5.  Combined vector + graph context enables the agent to produce explainable, auditable recommendations with full KG citations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0B0B0"/>
                </a:solidFill>
                <a:latin typeface="Segoe U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20"/>
                </a:solidFill>
                <a:latin typeface="Segoe UI Semibold"/>
              </a:defRPr>
            </a:pPr>
            <a:r>
              <a:t>Evaluation: RAGAS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645920" cy="381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Retrieval-Augmented Generation Assessment — evidence-based quality metrics</a:t>
            </a:r>
          </a:p>
        </p:txBody>
      </p:sp>
      <p:pic>
        <p:nvPicPr>
          <p:cNvPr id="6" name="Picture 5" descr="ragas_lollip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1143000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440680"/>
            <a:ext cx="11247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01579B"/>
                </a:solidFill>
                <a:latin typeface="Segoe UI"/>
              </a:rPr>
              <a:t>• </a:t>
            </a:r>
            <a:r>
              <a:rPr sz="1000">
                <a:solidFill>
                  <a:srgbClr val="757575"/>
                </a:solidFill>
                <a:latin typeface="Segoe UI"/>
              </a:rPr>
              <a:t>RAGAS framework applied to ground-truth Q&amp;A pairs sampled from EdNet and XES3G5M — full-scale evaluation requires institutional compute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1579B"/>
                </a:solidFill>
                <a:latin typeface="Segoe UI"/>
              </a:rPr>
              <a:t>• </a:t>
            </a:r>
            <a:r>
              <a:rPr sz="1000">
                <a:solidFill>
                  <a:srgbClr val="757575"/>
                </a:solidFill>
                <a:latin typeface="Segoe UI"/>
              </a:rPr>
              <a:t>Agent metrics (Tool Call Accuracy, Topic Adherence, Agent Goal Accuracy) evaluated via RAGAS v0.4 LLM-as-judge protocol with GPT-4o as evaluator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1579B"/>
                </a:solidFill>
                <a:latin typeface="Segoe UI"/>
              </a:rPr>
              <a:t>• </a:t>
            </a:r>
            <a:r>
              <a:rPr sz="1000">
                <a:solidFill>
                  <a:srgbClr val="757575"/>
                </a:solidFill>
                <a:latin typeface="Segoe UI"/>
              </a:rPr>
              <a:t>All scores represent single evaluation run on representative data; confidence intervals and longitudinal tracking planned for future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0B0B0"/>
                </a:solidFill>
                <a:latin typeface="Segoe U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20"/>
                </a:solidFill>
                <a:latin typeface="Segoe UI Semibold"/>
              </a:defRPr>
            </a:pPr>
            <a:r>
              <a:t>Findings: Decision Intelligence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645920" cy="381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Segoe UI"/>
              </a:defRPr>
            </a:pPr>
            <a:r>
              <a:t>Agentic AI framework vs. conventional analytics — five key performance dimensions</a:t>
            </a:r>
          </a:p>
        </p:txBody>
      </p:sp>
      <p:pic>
        <p:nvPicPr>
          <p:cNvPr id="6" name="Picture 5" descr="radar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566928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26480" y="1463040"/>
            <a:ext cx="5669280" cy="86868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4864" cy="8686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Segoe UI"/>
              </a:defRPr>
            </a:pPr>
            <a:r>
              <a:t>+40%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4813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Segoe UI"/>
              </a:defRPr>
            </a:pPr>
            <a:r>
              <a:t>Knowledge Prediction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7830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Segoe UI"/>
              </a:defRPr>
            </a:pPr>
            <a:r>
              <a:t>KG traversal + knowledge tracing yields consistently superior mastery prediction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496312"/>
            <a:ext cx="5669280" cy="86868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00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2496312"/>
            <a:ext cx="54864" cy="868680"/>
          </a:xfrm>
          <a:prstGeom prst="rect">
            <a:avLst/>
          </a:prstGeom>
          <a:solidFill>
            <a:srgbClr val="00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25420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978"/>
                </a:solidFill>
                <a:latin typeface="Segoe UI"/>
              </a:defRPr>
            </a:pPr>
            <a:r>
              <a:t>+53%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514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Segoe UI"/>
              </a:defRPr>
            </a:pPr>
            <a:r>
              <a:t>Content Relevance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8163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Segoe UI"/>
              </a:defRPr>
            </a:pPr>
            <a:r>
              <a:t>Semantic skill extraction (O*NET) + GraphRAG context fusion drives alignment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529584"/>
            <a:ext cx="5669280" cy="86868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3529584"/>
            <a:ext cx="54864" cy="86868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35753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360C"/>
                </a:solidFill>
                <a:latin typeface="Segoe UI"/>
              </a:defRPr>
            </a:pPr>
            <a:r>
              <a:t>+53%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5478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Segoe UI"/>
              </a:defRPr>
            </a:pPr>
            <a:r>
              <a:t>Decision Efficiency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84962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Segoe UI"/>
              </a:defRPr>
            </a:pPr>
            <a:r>
              <a:t>Agent-automated curriculum gap analysis replaces manual institutional audits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562856"/>
            <a:ext cx="5669280" cy="86868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0" y="4562856"/>
            <a:ext cx="54864" cy="86868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46085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148C"/>
                </a:solidFill>
                <a:latin typeface="Segoe UI"/>
              </a:defRPr>
            </a:pPr>
            <a:r>
              <a:t>+63%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58114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Segoe UI"/>
              </a:defRPr>
            </a:pPr>
            <a:r>
              <a:t>Learning Path Optimisation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88289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Segoe UI"/>
              </a:defRPr>
            </a:pPr>
            <a:r>
              <a:t>Prerequisite chain reasoning via KG enables personalised sequencing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5596127"/>
            <a:ext cx="5669280" cy="86868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26480" y="5596127"/>
            <a:ext cx="54864" cy="86868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5641847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1579B"/>
                </a:solidFill>
                <a:latin typeface="Segoe UI"/>
              </a:defRPr>
            </a:pPr>
            <a:r>
              <a:t>+79%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5614415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Segoe UI"/>
              </a:defRPr>
            </a:pPr>
            <a:r>
              <a:t>Curriculum Gap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916167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57575"/>
                </a:solidFill>
                <a:latin typeface="Segoe UI"/>
              </a:defRPr>
            </a:pPr>
            <a:r>
              <a:t>Cross-departmental skill coverage analysis via KG node degree analytics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338560" y="65379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0B0B0"/>
                </a:solidFill>
                <a:latin typeface="Segoe U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20"/>
                </a:solidFill>
                <a:latin typeface="Segoe UI Semibold"/>
              </a:defRPr>
            </a:pPr>
            <a: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645920" cy="381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5669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66928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Key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53949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1B5E20"/>
                </a:solidFill>
                <a:latin typeface="Segoe UI"/>
              </a:rPr>
              <a:t>• </a:t>
            </a:r>
            <a:r>
              <a:rPr sz="1100">
                <a:solidFill>
                  <a:srgbClr val="333333"/>
                </a:solidFill>
                <a:latin typeface="Segoe UI"/>
              </a:rPr>
              <a:t>Proposed an Agentic AI–driven Knowledge Ecosystem that transforms educational institutions into self-optimising environments for autonomous decision intelligence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1B5E20"/>
                </a:solidFill>
                <a:latin typeface="Segoe UI"/>
              </a:rPr>
              <a:t>• </a:t>
            </a:r>
            <a:r>
              <a:rPr sz="1100">
                <a:solidFill>
                  <a:srgbClr val="333333"/>
                </a:solidFill>
                <a:latin typeface="Segoe UI"/>
              </a:rPr>
              <a:t>Integrated multi-agent orchestration (OpenAI Agents SDK), RAG, GraphRAG, and predictive knowledge tracing into a single composable architecture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1B5E20"/>
                </a:solidFill>
                <a:latin typeface="Segoe UI"/>
              </a:rPr>
              <a:t>• </a:t>
            </a:r>
            <a:r>
              <a:rPr sz="1100">
                <a:solidFill>
                  <a:srgbClr val="333333"/>
                </a:solidFill>
                <a:latin typeface="Segoe UI"/>
              </a:rPr>
              <a:t>Leveraged EdNet (131M), XES3G5M (5.5M) and Course-Skill Atlas (3M+) to construct hierarchical learner KGs and institutional skill intelligence models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1B5E20"/>
                </a:solidFill>
                <a:latin typeface="Segoe UI"/>
              </a:rPr>
              <a:t>• </a:t>
            </a:r>
            <a:r>
              <a:rPr sz="1100">
                <a:solidFill>
                  <a:srgbClr val="333333"/>
                </a:solidFill>
                <a:latin typeface="Segoe UI"/>
              </a:rPr>
              <a:t>RAGAS evaluation: Faithfulness 0.87, Answer Relevancy 0.84, Tool Call Accuracy 0.91 on representative sample data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1B5E20"/>
                </a:solidFill>
                <a:latin typeface="Segoe UI"/>
              </a:rPr>
              <a:t>• </a:t>
            </a:r>
            <a:r>
              <a:rPr sz="1100">
                <a:solidFill>
                  <a:srgbClr val="333333"/>
                </a:solidFill>
                <a:latin typeface="Segoe UI"/>
              </a:rPr>
              <a:t>Comparative benchmarks: +40–79% improvement over conventional analytics across knowledge prediction, content relevance, and decision efficiency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1B5E20"/>
                </a:solidFill>
                <a:latin typeface="Segoe UI"/>
              </a:rPr>
              <a:t>• </a:t>
            </a:r>
            <a:r>
              <a:rPr sz="1100">
                <a:solidFill>
                  <a:srgbClr val="333333"/>
                </a:solidFill>
                <a:latin typeface="Segoe UI"/>
              </a:rPr>
              <a:t>Human-in-the-loop layer maintains pedagogical oversight, ethical governance and full audit compliance throughout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5778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577840" cy="3657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4447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Future Work &amp;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01952"/>
            <a:ext cx="53035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BF360C"/>
                </a:solidFill>
                <a:latin typeface="Segoe UI"/>
              </a:rPr>
              <a:t>• </a:t>
            </a:r>
            <a:r>
              <a:rPr sz="1100">
                <a:solidFill>
                  <a:srgbClr val="333333"/>
                </a:solidFill>
                <a:latin typeface="Segoe UI"/>
              </a:rPr>
              <a:t>Full-scale evaluation on complete datasets (131M+ interactions) requires institutional HPC; current results use representative samples due to resource constraints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BF360C"/>
                </a:solidFill>
                <a:latin typeface="Segoe UI"/>
              </a:rPr>
              <a:t>• </a:t>
            </a:r>
            <a:r>
              <a:rPr sz="1100">
                <a:solidFill>
                  <a:srgbClr val="333333"/>
                </a:solidFill>
                <a:latin typeface="Segoe UI"/>
              </a:rPr>
              <a:t>Longitudinal studies measuring actual learning gains: grades, retention rates, graduate employment outcomes and institutional ROI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BF360C"/>
                </a:solidFill>
                <a:latin typeface="Segoe UI"/>
              </a:rPr>
              <a:t>• </a:t>
            </a:r>
            <a:r>
              <a:rPr sz="1100">
                <a:solidFill>
                  <a:srgbClr val="333333"/>
                </a:solidFill>
                <a:latin typeface="Segoe UI"/>
              </a:rPr>
              <a:t>MCP protocol server integration for real-time connectors to production LMS, SIS and HR systems at partner institutions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BF360C"/>
                </a:solidFill>
                <a:latin typeface="Segoe UI"/>
              </a:rPr>
              <a:t>• </a:t>
            </a:r>
            <a:r>
              <a:rPr sz="1100">
                <a:solidFill>
                  <a:srgbClr val="333333"/>
                </a:solidFill>
                <a:latin typeface="Segoe UI"/>
              </a:rPr>
              <a:t>Extended agent roles: emotion-aware adaptive tutor, peer-mentoring matchmaker, career pathway advisor with labour-market intelligence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BF360C"/>
                </a:solidFill>
                <a:latin typeface="Segoe UI"/>
              </a:rPr>
              <a:t>• </a:t>
            </a:r>
            <a:r>
              <a:rPr sz="1100">
                <a:solidFill>
                  <a:srgbClr val="333333"/>
                </a:solidFill>
                <a:latin typeface="Segoe UI"/>
              </a:rPr>
              <a:t>Controlled comparative trials against deployed LMS platforms with live learner cohorts across multiple institutional contexts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BF360C"/>
                </a:solidFill>
                <a:latin typeface="Segoe UI"/>
              </a:rPr>
              <a:t>• </a:t>
            </a:r>
            <a:r>
              <a:rPr sz="1100">
                <a:solidFill>
                  <a:srgbClr val="333333"/>
                </a:solidFill>
                <a:latin typeface="Segoe UI"/>
              </a:rPr>
              <a:t>Reinforcement learning from human feedback (RLHF) to continuously improve agent decision quality based on educator evaluations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0" y="65379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0B0B0"/>
                </a:solidFill>
                <a:latin typeface="Segoe U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463040" cy="1463040"/>
          </a:xfrm>
          <a:prstGeom prst="roundRect">
            <a:avLst/>
          </a:prstGeom>
          <a:solidFill>
            <a:srgbClr val="E3E8ED"/>
          </a:solidFill>
          <a:ln w="12700">
            <a:solidFill>
              <a:srgbClr val="00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0" y="5029200"/>
            <a:ext cx="1188720" cy="118872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00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B5E20"/>
                </a:solidFill>
                <a:latin typeface="Segoe UI Semibold"/>
              </a:defRPr>
            </a:pPr>
            <a: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834640"/>
            <a:ext cx="2103120" cy="381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6978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Segoe UI"/>
              </a:defRPr>
            </a:pPr>
            <a:r>
              <a:t>Abhishek Danu  ·  Shivam Bahuguna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0B0"/>
                </a:solidFill>
                <a:latin typeface="Segoe UI"/>
              </a:defRPr>
            </a:pPr>
            <a:r>
              <a:t>Intelligent Knowledge Ecosystems — Agentic AI for Data-Driven Decision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0B0"/>
                </a:solidFill>
                <a:latin typeface="Segoe UI"/>
              </a:defRPr>
            </a:pPr>
            <a:r>
              <a:t>[1] EdNet: Large-Scale Hierarchical Dataset — arXiv:1912.03072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474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0B0"/>
                </a:solidFill>
                <a:latin typeface="Segoe UI"/>
              </a:defRPr>
            </a:pPr>
            <a:r>
              <a:t>[2] XES3G5M: Knowledge Tracing Benchmark — github.com/ai4ed/XES3G5M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400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0B0"/>
                </a:solidFill>
                <a:latin typeface="Segoe UI"/>
              </a:defRPr>
            </a:pPr>
            <a:r>
              <a:t>[3] Course-Skill Atlas — arXiv:2404.13163 · Nature Sci.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327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0B0"/>
                </a:solidFill>
                <a:latin typeface="Segoe UI"/>
              </a:defRPr>
            </a:pPr>
            <a:r>
              <a:t>[4] RAGAS: RAG Assessment Framework — docs.ragas.io · v0.4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0B0"/>
                </a:solidFill>
                <a:latin typeface="Segoe UI"/>
              </a:defRPr>
            </a:pPr>
            <a:r>
              <a:t>[5] OpenAI Agents SDK — github.com/openai/openai-agents-python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0474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0B0"/>
                </a:solidFill>
                <a:latin typeface="Segoe UI"/>
              </a:defRPr>
            </a:pPr>
            <a:r>
              <a:t>[6] Agentic AI vs. Autonomous Agents — ScienceDirect (2025)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3400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0B0"/>
                </a:solidFill>
                <a:latin typeface="Segoe UI"/>
              </a:defRPr>
            </a:pPr>
            <a:r>
              <a:t>[7] Industry 5.0 &amp; Human-Centric AI — European Commission (2021)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6327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0B0B0"/>
                </a:solidFill>
                <a:latin typeface="Segoe UI"/>
              </a:defRPr>
            </a:pPr>
            <a:r>
              <a:t>[8] Knowledge Tracing: DKT to Modern Approaches — ACM Survey (2024)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53796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0B0B0"/>
                </a:solidFill>
                <a:latin typeface="Segoe U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1528</Words>
  <Application>Microsoft Office PowerPoint</Application>
  <PresentationFormat>Widescreen</PresentationFormat>
  <Paragraphs>191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Shivam Bahuguna</cp:lastModifiedBy>
  <cp:revision>2</cp:revision>
  <dcterms:created xsi:type="dcterms:W3CDTF">2013-01-27T09:14:16Z</dcterms:created>
  <dcterms:modified xsi:type="dcterms:W3CDTF">2026-04-09T07:54:32Z</dcterms:modified>
  <cp:category/>
</cp:coreProperties>
</file>
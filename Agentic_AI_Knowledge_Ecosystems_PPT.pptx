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1097280" cy="1097280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1371600"/>
            <a:ext cx="640080" cy="640080"/>
          </a:xfrm>
          <a:prstGeom prst="ellipse">
            <a:avLst/>
          </a:prstGeom>
          <a:solidFill>
            <a:srgbClr val="102460"/>
          </a:solidFill>
          <a:ln w="25400">
            <a:solidFill>
              <a:srgbClr val="225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Calibri"/>
              </a:defRPr>
            </a:pPr>
            <a:r>
              <a:t>Track 1: Artificial Intelligence &amp; Industry 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Agentic AI Framework for</a:t>
            </a:r>
            <a:br/>
            <a:r>
              <a:t>Intelligent Knowledge Ecosystems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2FF"/>
                </a:solidFill>
                <a:latin typeface="Calibri"/>
              </a:defRPr>
            </a:pPr>
            <a:r>
              <a:rPr dirty="0"/>
              <a:t>Advancing Human-Centric Educational Systems</a:t>
            </a:r>
            <a:br>
              <a:rPr dirty="0"/>
            </a:br>
            <a:r>
              <a:rPr dirty="0"/>
              <a:t>in the Era of Generative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11880"/>
            <a:ext cx="228600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Shivam Bahuguna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School of Computer Science and Mathematics</a:t>
            </a:r>
            <a:br/>
            <a:r>
              <a:t>Liverpool John Moores University, Liverpool, 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840480"/>
            <a:ext cx="18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Abhishek Danu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1605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rPr dirty="0"/>
              <a:t>Department of Business Management</a:t>
            </a:r>
            <a:br>
              <a:rPr dirty="0"/>
            </a:br>
            <a:r>
              <a:rPr dirty="0"/>
              <a:t>HNB Garhwal University, Srinagar, Uttarakhand, India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02" y="62865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C107"/>
                </a:solidFill>
                <a:latin typeface="Calibri"/>
              </a:defRPr>
            </a:pPr>
            <a:r>
              <a:rPr dirty="0"/>
              <a:t>Keywords:  Agentic Knowledge Ecosystem  ·  Intelligent Systems  ·  Multi-Agent Orchestration  ·  Knowledge Graph  ·  Industry 5.0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" y="1810512"/>
            <a:ext cx="347472" cy="347472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D2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Background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28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Problem statement, literature gap, Industry 5.0 context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377440"/>
            <a:ext cx="347472" cy="347472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D2F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95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3957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Human-centric, data-driven, multi-agent ecosystem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944368"/>
            <a:ext cx="347472" cy="347472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D2F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626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&amp; Knowledge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96265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EdNet · XES3G5M · Course-Skill Atlas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511296"/>
            <a:ext cx="347472" cy="347472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D2FF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29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Multi-Agent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52958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 dirty="0"/>
              <a:t>OpenAI Agents SDK · Tool Calling · Handoffs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78224"/>
            <a:ext cx="347472" cy="347472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D2FF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096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RAG &amp; GraphRAG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0965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Semantic retrieval + KG reasoning + FAISS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645152"/>
            <a:ext cx="347472" cy="347472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D2FF"/>
                </a:solidFill>
                <a:latin typeface="Calibr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RAGAS Evaluation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663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Answer relevancy · Faithfulness · Semantic similarity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212080"/>
            <a:ext cx="347472" cy="347472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D2FF"/>
                </a:solidFill>
                <a:latin typeface="Calibri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Findings &amp; Institutional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2303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Agent effectiveness and curriculum-skill alignment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5779008"/>
            <a:ext cx="347472" cy="347472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D2FF"/>
                </a:solidFill>
                <a:latin typeface="Calibri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7972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Knowledge Graph Visualisation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7972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Nodes, edges, prerequisite chains, semantic relations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6345936"/>
            <a:ext cx="347472" cy="347472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D2FF"/>
                </a:solidFill>
                <a:latin typeface="Calibri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6364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36422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Contributions, limitations, and roadmap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rPr dirty="0"/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Background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From static educational technology to adaptive, agentic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303520" cy="192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200" dirty="0">
                <a:solidFill>
                  <a:srgbClr val="BBBBBB"/>
                </a:solidFill>
                <a:latin typeface="Calibri"/>
              </a:rPr>
              <a:t>Most educational technologies remain static and reactive, relying on manual intervention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200" dirty="0">
                <a:solidFill>
                  <a:srgbClr val="BBBBBB"/>
                </a:solidFill>
                <a:latin typeface="Calibri"/>
              </a:rPr>
              <a:t>Limited adaptability to evolving learner and institutional needs at scale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200" dirty="0">
                <a:solidFill>
                  <a:srgbClr val="BBBBBB"/>
                </a:solidFill>
                <a:latin typeface="Calibri"/>
              </a:rPr>
              <a:t>Siloed data: learner interactions, curriculum, and workforce skills rarely integrated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200" dirty="0">
                <a:solidFill>
                  <a:srgbClr val="BBBBBB"/>
                </a:solidFill>
                <a:latin typeface="Calibri"/>
              </a:rPr>
              <a:t>Lack of autonomous decision support for educators and administrators</a:t>
            </a:r>
          </a:p>
          <a:p>
            <a:pPr>
              <a:spcAft>
                <a:spcPts val="700"/>
              </a:spcAft>
            </a:pPr>
            <a:r>
              <a:rPr sz="1200" b="1" dirty="0">
                <a:solidFill>
                  <a:srgbClr val="FF6B6B"/>
                </a:solidFill>
                <a:latin typeface="Calibri"/>
              </a:rPr>
              <a:t>▸ </a:t>
            </a:r>
            <a:r>
              <a:rPr sz="1200" dirty="0">
                <a:solidFill>
                  <a:srgbClr val="BBBBBB"/>
                </a:solidFill>
                <a:latin typeface="Calibri"/>
              </a:rPr>
              <a:t>Knowledge management is fragmented </a:t>
            </a:r>
            <a:r>
              <a:rPr lang="en-US" sz="1200" dirty="0">
                <a:solidFill>
                  <a:srgbClr val="BBBBBB"/>
                </a:solidFill>
                <a:latin typeface="Calibri"/>
              </a:rPr>
              <a:t> </a:t>
            </a:r>
            <a:r>
              <a:rPr sz="1200" dirty="0">
                <a:solidFill>
                  <a:srgbClr val="BBBBBB"/>
                </a:solidFill>
                <a:latin typeface="Calibri"/>
              </a:rPr>
              <a:t>no shared intelligence layer across departments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0760" y="1828800"/>
            <a:ext cx="19050" cy="4389120"/>
          </a:xfrm>
          <a:prstGeom prst="rect">
            <a:avLst/>
          </a:prstGeom>
          <a:solidFill>
            <a:srgbClr val="33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B71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4ECB71"/>
                </a:solidFill>
                <a:latin typeface="Calibri"/>
              </a:rPr>
              <a:t>▸ </a:t>
            </a:r>
            <a:r>
              <a:rPr sz="1200">
                <a:solidFill>
                  <a:srgbClr val="BBBBBB"/>
                </a:solidFill>
                <a:latin typeface="Calibri"/>
              </a:rPr>
              <a:t>Generative AI and autonomous agentic systems are reshaping intelligent digital ecosystems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4ECB71"/>
                </a:solidFill>
                <a:latin typeface="Calibri"/>
              </a:rPr>
              <a:t>▸ </a:t>
            </a:r>
            <a:r>
              <a:rPr sz="1200">
                <a:solidFill>
                  <a:srgbClr val="BBBBBB"/>
                </a:solidFill>
                <a:latin typeface="Calibri"/>
              </a:rPr>
              <a:t>Industry 5.0 demands symbiotic human–AI collaboration, not pure automation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4ECB71"/>
                </a:solidFill>
                <a:latin typeface="Calibri"/>
              </a:rPr>
              <a:t>▸ </a:t>
            </a:r>
            <a:r>
              <a:rPr sz="1200">
                <a:solidFill>
                  <a:srgbClr val="BBBBBB"/>
                </a:solidFill>
                <a:latin typeface="Calibri"/>
              </a:rPr>
              <a:t>Large-scale learning datasets (EdNet 131M, XES3G5M 5.5M) now exist but remain under-utilised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4ECB71"/>
                </a:solidFill>
                <a:latin typeface="Calibri"/>
              </a:rPr>
              <a:t>▸ </a:t>
            </a:r>
            <a:r>
              <a:rPr sz="1200">
                <a:solidFill>
                  <a:srgbClr val="BBBBBB"/>
                </a:solidFill>
                <a:latin typeface="Calibri"/>
              </a:rPr>
              <a:t>Multi-agent orchestration enables specialised, composable AI that adapts to context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4ECB71"/>
                </a:solidFill>
                <a:latin typeface="Calibri"/>
              </a:rPr>
              <a:t>▸ </a:t>
            </a:r>
            <a:r>
              <a:rPr sz="1200">
                <a:solidFill>
                  <a:srgbClr val="BBBBBB"/>
                </a:solidFill>
                <a:latin typeface="Calibri"/>
              </a:rPr>
              <a:t>RAG + Knowledge Graph reasoning provides transparent, auditable AI recommendations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89320"/>
            <a:ext cx="11064240" cy="59436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C107"/>
                </a:solidFill>
                <a:latin typeface="Calibri"/>
              </a:rPr>
              <a:t>Research Gap: No existing framework unifies multi-agent orchestration, RAG, GraphRAG and Knowledge Graphs into a scalable, human-centric educational ecosystem aligned with Industry 5.0 principles.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Toward autonomous, human-centric knowledge management in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400" dirty="0">
                <a:solidFill>
                  <a:srgbClr val="FFFFFF"/>
                </a:solidFill>
                <a:latin typeface="Calibri"/>
              </a:rPr>
              <a:t>Build a human-centric AI ecosystem where autonomous agents augment teachers and learners — enabling adaptive, real-time educational intelligence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400" dirty="0">
                <a:solidFill>
                  <a:srgbClr val="FFFFFF"/>
                </a:solidFill>
                <a:latin typeface="Calibri"/>
              </a:rPr>
              <a:t>Leverage large-scale real-world datasets (</a:t>
            </a:r>
            <a:r>
              <a:rPr sz="1400" dirty="0" err="1">
                <a:solidFill>
                  <a:srgbClr val="FFFFFF"/>
                </a:solidFill>
                <a:latin typeface="Calibri"/>
              </a:rPr>
              <a:t>EdNet</a:t>
            </a:r>
            <a:r>
              <a:rPr sz="1400" dirty="0">
                <a:solidFill>
                  <a:srgbClr val="FFFFFF"/>
                </a:solidFill>
                <a:latin typeface="Calibri"/>
              </a:rPr>
              <a:t>: 131M interactions, XES3G5M: 5.5M interactions, Course-Skill Atlas: 3M+ syllabi) to construct dynamic learner models and institutional knowledge graphs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400" dirty="0">
                <a:solidFill>
                  <a:srgbClr val="FFFFFF"/>
                </a:solidFill>
                <a:latin typeface="Calibri"/>
              </a:rPr>
              <a:t>Design an orchestrated multi-agent architecture using modern agentic frameworks (OpenAI Agents SDK, tool calling, agent handoffs) where distributed specialist agents autonomously perceive, decide, and intervene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400" dirty="0">
                <a:solidFill>
                  <a:srgbClr val="FFFFFF"/>
                </a:solidFill>
                <a:latin typeface="Calibri"/>
              </a:rPr>
              <a:t>Integrate RAG and </a:t>
            </a:r>
            <a:r>
              <a:rPr sz="1400" dirty="0" err="1">
                <a:solidFill>
                  <a:srgbClr val="FFFFFF"/>
                </a:solidFill>
                <a:latin typeface="Calibri"/>
              </a:rPr>
              <a:t>GraphRAG</a:t>
            </a:r>
            <a:r>
              <a:rPr sz="1400" dirty="0">
                <a:solidFill>
                  <a:srgbClr val="FFFFFF"/>
                </a:solidFill>
                <a:latin typeface="Calibri"/>
              </a:rPr>
              <a:t> pipelines combining generative AI with knowledge graph–based semantic reasoning for evidence-grounded, hallucination-resistant recommendations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400" dirty="0">
                <a:solidFill>
                  <a:srgbClr val="FFFFFF"/>
                </a:solidFill>
                <a:latin typeface="Calibri"/>
              </a:rPr>
              <a:t>Ensure transparent, ethical human-in-the-loop governance aligned with Industry 5.0 principles of symbiotic human–AI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Methodology: Data &amp; Knowledge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Three complementary large-scale educational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474720" cy="43891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D51"/>
                </a:solidFill>
                <a:latin typeface="Calibri"/>
              </a:defRPr>
            </a:pPr>
            <a:r>
              <a:t>EdNet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131M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Interactions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Calibri"/>
              </a:defRPr>
            </a:pPr>
            <a:r>
              <a:t>784K Learners  ·  13,169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Fine-grained interactions: problem solving,</a:t>
            </a:r>
            <a:br/>
            <a:r>
              <a:t>lectures, purchases. Hierarchical KT1–KT4.</a:t>
            </a:r>
            <a:br/>
            <a:r>
              <a:t>Used for learner modeling &amp; engagement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828800"/>
            <a:ext cx="3474720" cy="43891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0" y="1828800"/>
            <a:ext cx="3474720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D51"/>
                </a:solidFill>
                <a:latin typeface="Calibri"/>
              </a:defRPr>
            </a:pPr>
            <a:r>
              <a:t>XES3G5M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971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Interactions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91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6B6B"/>
                </a:solidFill>
                <a:latin typeface="Calibri"/>
              </a:defRPr>
            </a:pPr>
            <a:r>
              <a:t>18K Students  ·  7,652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49039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Math knowledge tracing benchmark.</a:t>
            </a:r>
            <a:br/>
            <a:r>
              <a:t>865 KCs with concept relation graphs.</a:t>
            </a:r>
            <a:br/>
            <a:r>
              <a:t>Used for mastery estimation &amp; semantic mapping.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1828800"/>
            <a:ext cx="3474720" cy="43891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1828800"/>
            <a:ext cx="3474720" cy="54864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09560" y="1874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D51"/>
                </a:solidFill>
                <a:latin typeface="Calibri"/>
              </a:defRPr>
            </a:pPr>
            <a:r>
              <a:t>Course-Skill</a:t>
            </a:r>
            <a:br/>
            <a:r>
              <a:t>Atlas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468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3M+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971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Interactions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2918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CB71"/>
                </a:solidFill>
                <a:latin typeface="Calibri"/>
              </a:defRPr>
            </a:pPr>
            <a:r>
              <a:t>~3K Institutions  ·  950+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749039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National curriculum-skill database.</a:t>
            </a:r>
            <a:br/>
            <a:r>
              <a:t>O*NET workforce skill mapping.</a:t>
            </a:r>
            <a:br/>
            <a:r>
              <a:t>Used to build institutional Knowledge Graph.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Note: For this prototype, a representative sample of each dataset was used due to computational resource constraints. Full-scale deployment requires institutional compute infrastructure.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Methodology: Multi-Agent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OpenAI Agents SDK  ·  Function Tool Calling  ·  Agent Handoffs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737360"/>
            <a:ext cx="3931920" cy="82296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D51"/>
                </a:solidFill>
                <a:latin typeface="Calibri"/>
              </a:rPr>
              <a:t>Orchestrator Agent</a:t>
            </a:r>
          </a:p>
          <a:p>
            <a:pPr algn="ctr"/>
            <a:r>
              <a:rPr sz="900" b="0">
                <a:solidFill>
                  <a:srgbClr val="0B1D51"/>
                </a:solidFill>
                <a:latin typeface="Calibri"/>
              </a:rPr>
              <a:t>Routes queries · Coordinates handoffs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2560320"/>
            <a:ext cx="3810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0" y="3108960"/>
            <a:ext cx="7040880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0B1D51"/>
                </a:solidFill>
                <a:latin typeface="Calibri"/>
              </a:rPr>
              <a:t>Knowledge Graph + RAG + </a:t>
            </a:r>
            <a:r>
              <a:rPr sz="1200" b="1" dirty="0" err="1">
                <a:solidFill>
                  <a:srgbClr val="0B1D51"/>
                </a:solidFill>
                <a:latin typeface="Calibri"/>
              </a:rPr>
              <a:t>GraphRAG</a:t>
            </a:r>
            <a:r>
              <a:rPr sz="1200" b="1" dirty="0">
                <a:solidFill>
                  <a:srgbClr val="0B1D51"/>
                </a:solidFill>
                <a:latin typeface="Calibri"/>
              </a:rPr>
              <a:t> Layer</a:t>
            </a:r>
          </a:p>
          <a:p>
            <a:pPr algn="ctr"/>
            <a:r>
              <a:rPr sz="800" b="0" dirty="0">
                <a:solidFill>
                  <a:srgbClr val="333333"/>
                </a:solidFill>
                <a:latin typeface="Calibri"/>
              </a:rPr>
              <a:t>FAISS Vector Store · OpenAI Embeddings · </a:t>
            </a:r>
            <a:r>
              <a:rPr sz="800" b="0" dirty="0" err="1">
                <a:solidFill>
                  <a:srgbClr val="333333"/>
                </a:solidFill>
                <a:latin typeface="Calibri"/>
              </a:rPr>
              <a:t>NetworkX</a:t>
            </a:r>
            <a:r>
              <a:rPr sz="800" b="0" dirty="0">
                <a:solidFill>
                  <a:srgbClr val="333333"/>
                </a:solidFill>
                <a:latin typeface="Calibri"/>
              </a:rPr>
              <a:t> KG · Semantic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297680"/>
            <a:ext cx="2468880" cy="16459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4ECB71"/>
                </a:solidFill>
                <a:latin typeface="Calibri"/>
              </a:rPr>
              <a:t>Learner
Modeling</a:t>
            </a:r>
          </a:p>
          <a:p>
            <a:pPr algn="ctr"/>
            <a:endParaRPr sz="1300" b="1">
              <a:solidFill>
                <a:srgbClr val="4ECB71"/>
              </a:solidFill>
              <a:latin typeface="Calibri"/>
            </a:endParaRPr>
          </a:p>
          <a:p>
            <a:pPr algn="ctr"/>
            <a:r>
              <a:rPr sz="800" b="0">
                <a:solidFill>
                  <a:srgbClr val="BBBBBB"/>
                </a:solidFill>
                <a:latin typeface="Calibri"/>
              </a:rPr>
              <a:t>Tools: rag_search
get_student_stats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7620" y="3794760"/>
            <a:ext cx="25400" cy="457200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17520" y="4297680"/>
            <a:ext cx="2468880" cy="16459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6B6B"/>
                </a:solidFill>
                <a:latin typeface="Calibri"/>
              </a:rPr>
              <a:t>Recommendation</a:t>
            </a:r>
          </a:p>
          <a:p>
            <a:pPr algn="ctr"/>
            <a:endParaRPr sz="1300" b="1" dirty="0">
              <a:solidFill>
                <a:srgbClr val="FF6B6B"/>
              </a:solidFill>
              <a:latin typeface="Calibri"/>
            </a:endParaRPr>
          </a:p>
          <a:p>
            <a:pPr algn="ctr"/>
            <a:r>
              <a:rPr sz="800" b="0" dirty="0">
                <a:solidFill>
                  <a:srgbClr val="BBBBBB"/>
                </a:solidFill>
                <a:latin typeface="Calibri"/>
              </a:rPr>
              <a:t>Tools: </a:t>
            </a:r>
            <a:r>
              <a:rPr sz="800" b="0" dirty="0" err="1">
                <a:solidFill>
                  <a:srgbClr val="BBBBBB"/>
                </a:solidFill>
                <a:latin typeface="Calibri"/>
              </a:rPr>
              <a:t>graphrag_search</a:t>
            </a:r>
            <a:r>
              <a:rPr sz="800" b="0" dirty="0">
                <a:solidFill>
                  <a:srgbClr val="BBBBBB"/>
                </a:solidFill>
                <a:latin typeface="Calibri"/>
              </a:rPr>
              <a:t>
</a:t>
            </a:r>
            <a:r>
              <a:rPr sz="800" b="0" dirty="0" err="1">
                <a:solidFill>
                  <a:srgbClr val="BBBBBB"/>
                </a:solidFill>
                <a:latin typeface="Calibri"/>
              </a:rPr>
              <a:t>find_prerequisites</a:t>
            </a:r>
            <a:endParaRPr sz="800" b="0" dirty="0">
              <a:solidFill>
                <a:srgbClr val="BBBBBB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06240" y="3840480"/>
            <a:ext cx="25400" cy="457200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60720" y="4297680"/>
            <a:ext cx="2468880" cy="16459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AB47BC"/>
                </a:solidFill>
                <a:latin typeface="Calibri"/>
              </a:rPr>
              <a:t>Content
Curation</a:t>
            </a:r>
          </a:p>
          <a:p>
            <a:pPr algn="ctr"/>
            <a:endParaRPr sz="1300" b="1" dirty="0">
              <a:solidFill>
                <a:srgbClr val="AB47BC"/>
              </a:solidFill>
              <a:latin typeface="Calibri"/>
            </a:endParaRPr>
          </a:p>
          <a:p>
            <a:pPr algn="ctr"/>
            <a:r>
              <a:rPr sz="800" b="0" dirty="0">
                <a:solidFill>
                  <a:srgbClr val="BBBBBB"/>
                </a:solidFill>
                <a:latin typeface="Calibri"/>
              </a:rPr>
              <a:t>Tools: </a:t>
            </a:r>
            <a:r>
              <a:rPr sz="800" b="0" dirty="0" err="1">
                <a:solidFill>
                  <a:srgbClr val="BBBBBB"/>
                </a:solidFill>
                <a:latin typeface="Calibri"/>
              </a:rPr>
              <a:t>rag_search</a:t>
            </a:r>
            <a:r>
              <a:rPr sz="800" b="0" dirty="0">
                <a:solidFill>
                  <a:srgbClr val="BBBBBB"/>
                </a:solidFill>
                <a:latin typeface="Calibri"/>
              </a:rPr>
              <a:t>
</a:t>
            </a:r>
            <a:r>
              <a:rPr sz="800" b="0" dirty="0" err="1">
                <a:solidFill>
                  <a:srgbClr val="BBBBBB"/>
                </a:solidFill>
                <a:latin typeface="Calibri"/>
              </a:rPr>
              <a:t>search_content</a:t>
            </a:r>
            <a:endParaRPr sz="800" b="0" dirty="0">
              <a:solidFill>
                <a:srgbClr val="BBBBBB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49440" y="3840480"/>
            <a:ext cx="25400" cy="457200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03920" y="4297680"/>
            <a:ext cx="2468880" cy="16459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9800"/>
                </a:solidFill>
                <a:latin typeface="Calibri"/>
              </a:rPr>
              <a:t>Administration</a:t>
            </a:r>
          </a:p>
          <a:p>
            <a:pPr algn="ctr"/>
            <a:endParaRPr sz="1300" b="1" dirty="0">
              <a:solidFill>
                <a:srgbClr val="FF9800"/>
              </a:solidFill>
              <a:latin typeface="Calibri"/>
            </a:endParaRPr>
          </a:p>
          <a:p>
            <a:pPr algn="ctr"/>
            <a:r>
              <a:rPr sz="800" b="0" dirty="0">
                <a:solidFill>
                  <a:srgbClr val="BBBBBB"/>
                </a:solidFill>
                <a:latin typeface="Calibri"/>
              </a:rPr>
              <a:t>Tools: </a:t>
            </a:r>
            <a:r>
              <a:rPr sz="800" b="0" dirty="0" err="1">
                <a:solidFill>
                  <a:srgbClr val="BBBBBB"/>
                </a:solidFill>
                <a:latin typeface="Calibri"/>
              </a:rPr>
              <a:t>curriculum_gaps</a:t>
            </a:r>
            <a:r>
              <a:rPr sz="800" b="0" dirty="0">
                <a:solidFill>
                  <a:srgbClr val="BBBBBB"/>
                </a:solidFill>
                <a:latin typeface="Calibri"/>
              </a:rPr>
              <a:t>
</a:t>
            </a:r>
            <a:r>
              <a:rPr sz="800" b="0" dirty="0" err="1">
                <a:solidFill>
                  <a:srgbClr val="BBBBBB"/>
                </a:solidFill>
                <a:latin typeface="Calibri"/>
              </a:rPr>
              <a:t>get_analytics</a:t>
            </a:r>
            <a:endParaRPr sz="800" b="0" dirty="0">
              <a:solidFill>
                <a:srgbClr val="BBBBBB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366636" y="3840480"/>
            <a:ext cx="25400" cy="457200"/>
          </a:xfrm>
          <a:prstGeom prst="rect">
            <a:avLst/>
          </a:prstGeom>
          <a:solidFill>
            <a:srgbClr val="44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4320" y="6126480"/>
            <a:ext cx="11612880" cy="457200"/>
          </a:xfrm>
          <a:prstGeom prst="roundRect">
            <a:avLst/>
          </a:prstGeom>
          <a:solidFill>
            <a:srgbClr val="10246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D2FF"/>
                </a:solidFill>
                <a:latin typeface="Calibri"/>
              </a:rPr>
              <a:t>Data Layer:  EdNet (131M)  ·  XES3G5M (5.5M)  ·  Course-Skill Atlas (3M+)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Methodology: RAG &amp; GraphRAG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Retrieval-Augmented Generation with Knowledge Graph–Grounded Reasoning</a:t>
            </a:r>
          </a:p>
        </p:txBody>
      </p:sp>
      <p:sp>
        <p:nvSpPr>
          <p:cNvPr id="5" name="Chevron 4"/>
          <p:cNvSpPr/>
          <p:nvPr/>
        </p:nvSpPr>
        <p:spPr>
          <a:xfrm>
            <a:off x="274320" y="1828800"/>
            <a:ext cx="2011680" cy="1280160"/>
          </a:xfrm>
          <a:prstGeom prst="chevron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Documents
(EdNet, XES,
CSA)</a:t>
            </a:r>
          </a:p>
        </p:txBody>
      </p:sp>
      <p:sp>
        <p:nvSpPr>
          <p:cNvPr id="6" name="Chevron 5"/>
          <p:cNvSpPr/>
          <p:nvPr/>
        </p:nvSpPr>
        <p:spPr>
          <a:xfrm>
            <a:off x="2468880" y="1828800"/>
            <a:ext cx="2011680" cy="1280160"/>
          </a:xfrm>
          <a:prstGeom prst="chevron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Chunk &amp;
Embed
(OpenAI)</a:t>
            </a:r>
          </a:p>
        </p:txBody>
      </p:sp>
      <p:sp>
        <p:nvSpPr>
          <p:cNvPr id="7" name="Chevron 6"/>
          <p:cNvSpPr/>
          <p:nvPr/>
        </p:nvSpPr>
        <p:spPr>
          <a:xfrm>
            <a:off x="4663440" y="1828800"/>
            <a:ext cx="2011680" cy="1280160"/>
          </a:xfrm>
          <a:prstGeom prst="chevron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FAISS
Vector
Store</a:t>
            </a:r>
          </a:p>
        </p:txBody>
      </p:sp>
      <p:sp>
        <p:nvSpPr>
          <p:cNvPr id="8" name="Chevron 7"/>
          <p:cNvSpPr/>
          <p:nvPr/>
        </p:nvSpPr>
        <p:spPr>
          <a:xfrm>
            <a:off x="6858000" y="1828800"/>
            <a:ext cx="2011680" cy="1280160"/>
          </a:xfrm>
          <a:prstGeom prst="chevron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Knowledge
Graph
(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NetworkX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9" name="Chevron 8"/>
          <p:cNvSpPr/>
          <p:nvPr/>
        </p:nvSpPr>
        <p:spPr>
          <a:xfrm>
            <a:off x="9052560" y="1828800"/>
            <a:ext cx="2011680" cy="1280160"/>
          </a:xfrm>
          <a:prstGeom prst="chevron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LLM
Synthesis
(GPT)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B71"/>
                </a:solidFill>
                <a:latin typeface="Calibri"/>
              </a:defRPr>
            </a:pPr>
            <a:r>
              <a:t>Semantic Vector Search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  <a:latin typeface="Calibri"/>
              </a:defRPr>
            </a:pPr>
            <a:r>
              <a:t>Knowledge Graph Traversal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097280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2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Documents chunked and embedded via OpenAI text-embedding-3-small, indexed in FAISS for sub-second semantic retrieval across all three datasets</a:t>
            </a:r>
          </a:p>
          <a:p>
            <a:pPr>
              <a:spcAft>
                <a:spcPts val="900"/>
              </a:spcAft>
            </a:pPr>
            <a:r>
              <a:rPr sz="12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GraphRAG</a:t>
            </a:r>
            <a:r>
              <a:rPr sz="1200" dirty="0">
                <a:solidFill>
                  <a:srgbClr val="FFFFFF"/>
                </a:solidFill>
                <a:latin typeface="Calibri"/>
              </a:rPr>
              <a:t> extends vector search: retrieved documents are enriched with Knowledge Graph path traversal exposing prerequisite chains, concept hierarchies, and cross-domain skill relationships</a:t>
            </a:r>
          </a:p>
          <a:p>
            <a:pPr>
              <a:spcAft>
                <a:spcPts val="900"/>
              </a:spcAft>
            </a:pPr>
            <a:r>
              <a:rPr sz="12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Agents use tool calling to invoke both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rag_search</a:t>
            </a:r>
            <a:r>
              <a:rPr sz="1200" dirty="0">
                <a:solidFill>
                  <a:srgbClr val="FFFFFF"/>
                </a:solidFill>
                <a:latin typeface="Calibri"/>
              </a:rPr>
              <a:t>() and </a:t>
            </a:r>
            <a:r>
              <a:rPr sz="1200" dirty="0" err="1">
                <a:solidFill>
                  <a:srgbClr val="FFFFFF"/>
                </a:solidFill>
                <a:latin typeface="Calibri"/>
              </a:rPr>
              <a:t>graphrag_search</a:t>
            </a:r>
            <a:r>
              <a:rPr sz="1200" dirty="0">
                <a:solidFill>
                  <a:srgbClr val="FFFFFF"/>
                </a:solidFill>
                <a:latin typeface="Calibri"/>
              </a:rPr>
              <a:t>() the LLM receives combined vector + graph context for grounded synthesis</a:t>
            </a:r>
          </a:p>
          <a:p>
            <a:pPr>
              <a:spcAft>
                <a:spcPts val="900"/>
              </a:spcAft>
            </a:pPr>
            <a:r>
              <a:rPr sz="12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200" dirty="0">
                <a:solidFill>
                  <a:srgbClr val="FFFFFF"/>
                </a:solidFill>
                <a:latin typeface="Calibri"/>
              </a:rPr>
              <a:t>Hallucination prevention: every recommendation is anchored to explicit KG evidence; human-in-the-loop educators review and can override agent proposals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Findings: RAGAS Evaluation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RAG Assessment (RAGAS) — evaluating agent responses against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RAG Quality Metrics (RAGAS)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Faithfulness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221992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03120" y="2221992"/>
            <a:ext cx="2545689" cy="21945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40249" y="2194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0.87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Answer Relevancy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2606040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03120" y="2606040"/>
            <a:ext cx="2457907" cy="219456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2467" y="25786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71"/>
                </a:solidFill>
                <a:latin typeface="Calibri"/>
              </a:defRPr>
            </a:pPr>
            <a:r>
              <a:t>0.84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626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Context 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990088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03120" y="2990088"/>
            <a:ext cx="2399385" cy="21945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3945" y="29626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0.82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46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Context 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374136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03120" y="3374136"/>
            <a:ext cx="2311603" cy="21945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06163" y="3346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0.79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307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Factual Correctness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3758184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03120" y="3758184"/>
            <a:ext cx="2370124" cy="219456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4684" y="37307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B47BC"/>
                </a:solidFill>
                <a:latin typeface="Calibri"/>
              </a:defRPr>
            </a:pPr>
            <a:r>
              <a:t>0.81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Semantic Similarity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4142232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03120" y="4133088"/>
            <a:ext cx="2574950" cy="21945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69510" y="4114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C107"/>
                </a:solidFill>
                <a:latin typeface="Calibri"/>
              </a:defRPr>
            </a:pPr>
            <a:r>
              <a:t>Agent &amp; Tool Calling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1945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Tool Call Accuracy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80" y="2221992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2221992"/>
            <a:ext cx="2662732" cy="219456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09452" y="2194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71"/>
                </a:solidFill>
                <a:latin typeface="Calibri"/>
              </a:defRPr>
            </a:pPr>
            <a:r>
              <a:t>0.91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5786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Agent Goal Accuracy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2606040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2606040"/>
            <a:ext cx="2428646" cy="21945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475366" y="25786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Calibri"/>
              </a:defRPr>
            </a:pPr>
            <a:r>
              <a:t>0.83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626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Response Groundedness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2990088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955280" y="2990088"/>
            <a:ext cx="2516428" cy="21945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63148" y="29626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0.86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346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Topic Adherence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3374136"/>
            <a:ext cx="2926080" cy="219456"/>
          </a:xfrm>
          <a:prstGeom prst="rect">
            <a:avLst/>
          </a:prstGeom>
          <a:solidFill>
            <a:srgbClr val="1A3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955280" y="3374136"/>
            <a:ext cx="2604211" cy="21945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650931" y="3346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Calibri"/>
              </a:defRPr>
            </a:pPr>
            <a:r>
              <a:t>0.89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221224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100" dirty="0">
                <a:solidFill>
                  <a:srgbClr val="BBBBBB"/>
                </a:solidFill>
                <a:latin typeface="Calibri"/>
              </a:rPr>
              <a:t>Evaluated using RAGAS (Retrieval-Augmented Generation Assessment) framework with ground-truth question–answer pairs from </a:t>
            </a:r>
            <a:r>
              <a:rPr sz="1100" dirty="0" err="1">
                <a:solidFill>
                  <a:srgbClr val="BBBBBB"/>
                </a:solidFill>
                <a:latin typeface="Calibri"/>
              </a:rPr>
              <a:t>EdNet</a:t>
            </a:r>
            <a:r>
              <a:rPr sz="1100" dirty="0">
                <a:solidFill>
                  <a:srgbClr val="BBBBBB"/>
                </a:solidFill>
                <a:latin typeface="Calibri"/>
              </a:rPr>
              <a:t> and XES3G5M datasets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100" dirty="0">
                <a:solidFill>
                  <a:srgbClr val="BBBBBB"/>
                </a:solidFill>
                <a:latin typeface="Calibri"/>
              </a:rPr>
              <a:t>A representative sample was used for evaluation; the full datasets (131M+ interactions) require significant compute resources — scalable evaluation is planned for future work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100" dirty="0">
                <a:solidFill>
                  <a:srgbClr val="BBBBBB"/>
                </a:solidFill>
                <a:latin typeface="Calibri"/>
              </a:rPr>
              <a:t>Metrics computed using OpenAI GPT-4o as evaluator LLM, following RAGAS v0.4 methodology (faithfulness, relevancy, correctness, similarity)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Findings: Knowledge Synthesis &amp; Institutional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Curriculum alignment · Collaborative intelligence ·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94960" cy="21031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94960" cy="4114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51"/>
                </a:solidFill>
                <a:latin typeface="Calibri"/>
              </a:defRPr>
            </a:pPr>
            <a:r>
              <a:t>Curriculum–Skill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Knowledge Graph analysis revealed departments</a:t>
            </a:r>
            <a:br/>
            <a:r>
              <a:t>under-emphasizing emerging technical skills.</a:t>
            </a:r>
            <a:br/>
            <a:r>
              <a:t>Administrators used these insights to identify</a:t>
            </a:r>
            <a:br/>
            <a:r>
              <a:t>gaps and prioritize course revisions.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21031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5394960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8470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51"/>
                </a:solidFill>
                <a:latin typeface="Calibri"/>
              </a:defRPr>
            </a:pPr>
            <a:r>
              <a:t>Collaborative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029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rPr dirty="0"/>
              <a:t>Collaboration agent identified research synergies</a:t>
            </a:r>
            <a:br>
              <a:rPr dirty="0"/>
            </a:br>
            <a:r>
              <a:rPr dirty="0"/>
              <a:t>by mining overlapping skill graphs across</a:t>
            </a:r>
            <a:br>
              <a:rPr dirty="0"/>
            </a:br>
            <a:r>
              <a:rPr dirty="0"/>
              <a:t>departments surfacing interdisciplinary</a:t>
            </a:r>
            <a:br>
              <a:rPr dirty="0"/>
            </a:br>
            <a:r>
              <a:rPr dirty="0"/>
              <a:t>project opportunities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5394960" cy="21031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160520"/>
            <a:ext cx="5394960" cy="41148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178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51"/>
                </a:solidFill>
                <a:latin typeface="Calibri"/>
              </a:defRPr>
            </a:pPr>
            <a:r>
              <a:t>Decision Support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Administration agent aggregated learning analytics</a:t>
            </a:r>
            <a:br/>
            <a:r>
              <a:t>to report dropout risk trends by course.</a:t>
            </a:r>
            <a:br/>
            <a:r>
              <a:t>Enables proactive institutional intervention</a:t>
            </a:r>
            <a:br/>
            <a:r>
              <a:t>at scale with data-driven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5394960" cy="2103120"/>
          </a:xfrm>
          <a:prstGeom prst="roundRect">
            <a:avLst/>
          </a:prstGeom>
          <a:solidFill>
            <a:srgbClr val="142D72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39496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178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D51"/>
                </a:solidFill>
                <a:latin typeface="Calibri"/>
              </a:defRPr>
            </a:pPr>
            <a:r>
              <a:t>Ethical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All agent actions logged with explanations.</a:t>
            </a:r>
            <a:br/>
            <a:r>
              <a:t>Human-in-the-loop: educators review, adjust,</a:t>
            </a:r>
            <a:br/>
            <a:r>
              <a:t>or override any agent recommendation.</a:t>
            </a:r>
            <a:br/>
            <a:r>
              <a:t>Full transparency and auditability.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24128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FFFFFF"/>
                </a:solidFill>
                <a:latin typeface="Calibri"/>
              </a:rPr>
              <a:t>Introduced a scalable agentic AI framework that transforms educational systems from static content delivery to proactive, autonomous intelligence — aligned with Industry 5.0 human-centric principles</a:t>
            </a: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FFFFFF"/>
                </a:solidFill>
                <a:latin typeface="Calibri"/>
              </a:rPr>
              <a:t>Modern architecture using OpenAI Agents SDK, function tool calling, RAG, and </a:t>
            </a:r>
            <a:r>
              <a:rPr sz="1300" dirty="0" err="1">
                <a:solidFill>
                  <a:srgbClr val="FFFFFF"/>
                </a:solidFill>
                <a:latin typeface="Calibri"/>
              </a:rPr>
              <a:t>GraphRAG</a:t>
            </a:r>
            <a:r>
              <a:rPr sz="1300" dirty="0">
                <a:solidFill>
                  <a:srgbClr val="FFFFFF"/>
                </a:solidFill>
                <a:latin typeface="Calibri"/>
              </a:rPr>
              <a:t> enables composable, maintainable, and extensible multi-agent orchestration</a:t>
            </a: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FFFFFF"/>
                </a:solidFill>
                <a:latin typeface="Calibri"/>
              </a:rPr>
              <a:t>Three large-scale datasets (</a:t>
            </a:r>
            <a:r>
              <a:rPr sz="1300" dirty="0" err="1">
                <a:solidFill>
                  <a:srgbClr val="FFFFFF"/>
                </a:solidFill>
                <a:latin typeface="Calibri"/>
              </a:rPr>
              <a:t>EdNet</a:t>
            </a:r>
            <a:r>
              <a:rPr sz="1300" dirty="0">
                <a:solidFill>
                  <a:srgbClr val="FFFFFF"/>
                </a:solidFill>
                <a:latin typeface="Calibri"/>
              </a:rPr>
              <a:t>, XES3G5M, Course-Skill Atlas) provide the foundation for dynamic learner modeling, institutional knowledge graphs, and skill-aligned representations</a:t>
            </a: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FFFFFF"/>
                </a:solidFill>
                <a:latin typeface="Calibri"/>
              </a:rPr>
              <a:t>RAGAS evaluation framework validates agent response quality: faithfulness (0.87), answer relevancy (0.84), and semantic similarity (0.88) on sampled ground-truth data</a:t>
            </a:r>
          </a:p>
          <a:p>
            <a:pPr>
              <a:spcAft>
                <a:spcPts val="900"/>
              </a:spcAft>
            </a:pPr>
            <a:r>
              <a:rPr sz="1300" b="1" dirty="0">
                <a:solidFill>
                  <a:srgbClr val="00D2FF"/>
                </a:solidFill>
                <a:latin typeface="Calibri"/>
              </a:rPr>
              <a:t>▸ </a:t>
            </a:r>
            <a:r>
              <a:rPr sz="1300" dirty="0">
                <a:solidFill>
                  <a:srgbClr val="FFFFFF"/>
                </a:solidFill>
                <a:latin typeface="Calibri"/>
              </a:rPr>
              <a:t>Human-in-the-loop governance ensures all agent actions are transparent, pedagogically aligned, and ethically governed 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dirty="0">
                <a:solidFill>
                  <a:srgbClr val="FFFFFF"/>
                </a:solidFill>
                <a:latin typeface="Calibri"/>
              </a:rPr>
              <a:t>educators retain full oversight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C107"/>
                </a:solidFill>
                <a:latin typeface="Calibri"/>
              </a:defRPr>
            </a:pPr>
            <a:r>
              <a:t>Future Work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FC107"/>
                </a:solidFill>
                <a:latin typeface="Calibri"/>
              </a:rPr>
              <a:t>▸ </a:t>
            </a:r>
            <a:r>
              <a:rPr sz="1100">
                <a:solidFill>
                  <a:srgbClr val="BBBBBB"/>
                </a:solidFill>
                <a:latin typeface="Calibri"/>
              </a:rPr>
              <a:t>Full-scale deployment on complete datasets requires institutional compute resources; current evaluation uses representative samples due to cost constraints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C107"/>
                </a:solidFill>
                <a:latin typeface="Calibri"/>
              </a:rPr>
              <a:t>▸ </a:t>
            </a:r>
            <a:r>
              <a:rPr sz="1100">
                <a:solidFill>
                  <a:srgbClr val="BBBBBB"/>
                </a:solidFill>
                <a:latin typeface="Calibri"/>
              </a:rPr>
              <a:t>Longitudinal studies to measure actual learning gains (grades, retention, employment)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C107"/>
                </a:solidFill>
                <a:latin typeface="Calibri"/>
              </a:rPr>
              <a:t>▸ </a:t>
            </a:r>
            <a:r>
              <a:rPr sz="1100">
                <a:solidFill>
                  <a:srgbClr val="BBBBBB"/>
                </a:solidFill>
                <a:latin typeface="Calibri"/>
              </a:rPr>
              <a:t>Integration with MCP protocol servers for real-time institutional data connectors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C107"/>
                </a:solidFill>
                <a:latin typeface="Calibri"/>
              </a:rPr>
              <a:t>▸ </a:t>
            </a:r>
            <a:r>
              <a:rPr sz="1100">
                <a:solidFill>
                  <a:srgbClr val="BBBBBB"/>
                </a:solidFill>
                <a:latin typeface="Calibri"/>
              </a:rPr>
              <a:t>Expanded agent roles: peer-mentoring matchmaker, emotion-aware tutor, career advisor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C107"/>
                </a:solidFill>
                <a:latin typeface="Calibri"/>
              </a:rPr>
              <a:t>▸ </a:t>
            </a:r>
            <a:r>
              <a:rPr sz="1100">
                <a:solidFill>
                  <a:srgbClr val="BBBBBB"/>
                </a:solidFill>
                <a:latin typeface="Calibri"/>
              </a:rPr>
              <a:t>Controlled comparative studies: agentic system vs. traditional educational platforms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1371600" cy="1371600"/>
          </a:xfrm>
          <a:prstGeom prst="ellipse">
            <a:avLst/>
          </a:prstGeom>
          <a:solidFill>
            <a:srgbClr val="142D72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1097280" cy="1097280"/>
          </a:xfrm>
          <a:prstGeom prst="ellipse">
            <a:avLst/>
          </a:prstGeom>
          <a:solidFill>
            <a:srgbClr val="102460"/>
          </a:solidFill>
          <a:ln w="25400">
            <a:solidFill>
              <a:srgbClr val="2255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200400"/>
            <a:ext cx="2103120" cy="25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Shivam Bahuguna  ·  Agentic AI for Intelligent Knowledge Ecosystems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[1] AI Agents vs. Agentic AI — ScienceDirect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30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[2] EdNet: Large-Scale Hierarchical Dataset — arXiv:1912.03072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229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[3] XES3G5M: KT Benchmark Dataset — github.com/ai4ed/XES3G5M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155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[4] Course-Skill Atlas — arXiv:2404.13163 · Nature Scientific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[5] RAGAS: RAG Assessment Framework — docs.ragas.io · github.com/vibrantlabsai/ragas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30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[6] OpenAI Agents SDK — github.com/openai/openai-agents-python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5229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[7] GraphAgents: KG-Guided Agentic AI — arXiv:2602.07491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8155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[8] Personalized Learning via KG + Deep RL — Nature Sci. Reports (2025)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88888"/>
                </a:solidFill>
                <a:latin typeface="Calibr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1487</Words>
  <Application>Microsoft Office PowerPoint</Application>
  <PresentationFormat>Widescreen</PresentationFormat>
  <Paragraphs>180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Shivam Bahuguna</cp:lastModifiedBy>
  <cp:revision>2</cp:revision>
  <dcterms:created xsi:type="dcterms:W3CDTF">2013-01-27T09:14:16Z</dcterms:created>
  <dcterms:modified xsi:type="dcterms:W3CDTF">2026-04-09T08:19:33Z</dcterms:modified>
  <cp:category/>
</cp:coreProperties>
</file>